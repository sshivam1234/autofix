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70" r:id="rId7"/>
    <p:sldId id="281" r:id="rId8"/>
    <p:sldId id="272" r:id="rId9"/>
    <p:sldId id="273" r:id="rId10"/>
    <p:sldId id="282" r:id="rId11"/>
    <p:sldId id="283" r:id="rId12"/>
    <p:sldId id="278" r:id="rId13"/>
    <p:sldId id="276" r:id="rId14"/>
    <p:sldId id="280" r:id="rId15"/>
    <p:sldId id="277"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4803"/>
    <a:srgbClr val="814C05"/>
    <a:srgbClr val="CAC0B5"/>
    <a:srgbClr val="8AB2E2"/>
    <a:srgbClr val="2A66AC"/>
    <a:srgbClr val="75A4DD"/>
    <a:srgbClr val="2E6CB8"/>
    <a:srgbClr val="2A65AC"/>
    <a:srgbClr val="255997"/>
    <a:srgbClr val="337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howGuides="1">
      <p:cViewPr varScale="1">
        <p:scale>
          <a:sx n="59" d="100"/>
          <a:sy n="59" d="100"/>
        </p:scale>
        <p:origin x="1616" y="48"/>
      </p:cViewPr>
      <p:guideLst>
        <p:guide orient="horz" pos="2160"/>
        <p:guide pos="29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latin typeface="Times New Roman" panose="02020503050405090304" pitchFamily="18" charset="0"/>
            </a:endParaRPr>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latin typeface="Times New Roman" panose="02020503050405090304" pitchFamily="18" charset="0"/>
              </a:rPr>
              <a:t>5/15/2026</a:t>
            </a:fld>
            <a:endParaRPr lang="en-US" dirty="0">
              <a:latin typeface="Times New Roman" panose="02020503050405090304" pitchFamily="18" charset="0"/>
            </a:endParaRPr>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latin typeface="Times New Roman" panose="02020503050405090304" pitchFamily="18" charset="0"/>
              </a:rPr>
              <a:t>Name of the faculty [Group: G00] [Sem:2nd]</a:t>
            </a:r>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latin typeface="Times New Roman" panose="02020503050405090304" pitchFamily="18" charset="0"/>
              </a:rPr>
              <a:t>‹#›</a:t>
            </a:fld>
            <a:endParaRPr lang="en-US" dirty="0">
              <a:latin typeface="Times New Roman" panose="0202050305040509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atin typeface="Times New Roman" panose="02020503050405090304" pitchFamily="18" charset="0"/>
              </a:defRPr>
            </a:lvl1pPr>
          </a:lstStyle>
          <a:p>
            <a:endParaRPr lang="en-US"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atin typeface="Times New Roman" panose="02020503050405090304" pitchFamily="18" charset="0"/>
              </a:defRPr>
            </a:lvl1pPr>
          </a:lstStyle>
          <a:p>
            <a:fld id="{888BC1CF-45D5-4DEE-AAB8-8C5341844FC9}" type="datetimeFigureOut">
              <a:rPr lang="en-US" smtClean="0"/>
              <a:t>5/15/2026</a:t>
            </a:fld>
            <a:endParaRPr lang="en-US" dirty="0"/>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atin typeface="Times New Roman" panose="02020503050405090304" pitchFamily="18" charset="0"/>
              </a:defRPr>
            </a:lvl1pPr>
          </a:lstStyle>
          <a:p>
            <a:r>
              <a:rPr lang="en-US" dirty="0"/>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atin typeface="Times New Roman" panose="02020503050405090304" pitchFamily="18" charset="0"/>
              </a:defRPr>
            </a:lvl1pPr>
          </a:lstStyle>
          <a:p>
            <a:fld id="{C5A7523A-12D4-4E0F-9409-B3F845B48333}" type="slidenum">
              <a:rPr lang="en-US" smtClean="0"/>
              <a:t>‹#›</a:t>
            </a:fld>
            <a:endParaRPr lang="en-US" dirty="0"/>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Times New Roman" panose="02020503050405090304" pitchFamily="18" charset="0"/>
        <a:ea typeface="+mn-ea"/>
        <a:cs typeface="+mn-cs"/>
      </a:defRPr>
    </a:lvl1pPr>
    <a:lvl2pPr marL="457200" algn="l" defTabSz="914400" rtl="0" eaLnBrk="1" latinLnBrk="0" hangingPunct="1">
      <a:defRPr sz="1200" kern="1200">
        <a:solidFill>
          <a:schemeClr val="tx1"/>
        </a:solidFill>
        <a:latin typeface="Times New Roman" panose="02020503050405090304" pitchFamily="18" charset="0"/>
        <a:ea typeface="+mn-ea"/>
        <a:cs typeface="+mn-cs"/>
      </a:defRPr>
    </a:lvl2pPr>
    <a:lvl3pPr marL="914400" algn="l" defTabSz="914400" rtl="0" eaLnBrk="1" latinLnBrk="0" hangingPunct="1">
      <a:defRPr sz="1200" kern="1200">
        <a:solidFill>
          <a:schemeClr val="tx1"/>
        </a:solidFill>
        <a:latin typeface="Times New Roman" panose="02020503050405090304" pitchFamily="18" charset="0"/>
        <a:ea typeface="+mn-ea"/>
        <a:cs typeface="+mn-cs"/>
      </a:defRPr>
    </a:lvl3pPr>
    <a:lvl4pPr marL="1371600" algn="l" defTabSz="914400" rtl="0" eaLnBrk="1" latinLnBrk="0" hangingPunct="1">
      <a:defRPr sz="1200" kern="1200">
        <a:solidFill>
          <a:schemeClr val="tx1"/>
        </a:solidFill>
        <a:latin typeface="Times New Roman" panose="02020503050405090304" pitchFamily="18" charset="0"/>
        <a:ea typeface="+mn-ea"/>
        <a:cs typeface="+mn-cs"/>
      </a:defRPr>
    </a:lvl4pPr>
    <a:lvl5pPr marL="1828800" algn="l" defTabSz="914400" rtl="0" eaLnBrk="1" latinLnBrk="0" hangingPunct="1">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t>1</a:t>
            </a:fld>
            <a:endParaRPr lang="en-US"/>
          </a:p>
        </p:txBody>
      </p:sp>
      <p:sp>
        <p:nvSpPr>
          <p:cNvPr id="5" name="Footer Placeholder 4"/>
          <p:cNvSpPr>
            <a:spLocks noGrp="1"/>
          </p:cNvSpPr>
          <p:nvPr>
            <p:ph type="ftr" sz="quarter" idx="4"/>
          </p:nvPr>
        </p:nvSpPr>
        <p:spPr/>
        <p:txBody>
          <a:bodyPr/>
          <a:lstStyle/>
          <a:p>
            <a:r>
              <a:rPr lang="en-US"/>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a:fillRect/>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panose="020B060402020209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90204"/>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2950" lvl="1" indent="-285750">
              <a:lnSpc>
                <a:spcPct val="100000"/>
              </a:lnSpc>
              <a:spcBef>
                <a:spcPts val="560"/>
              </a:spcBef>
              <a:buClr>
                <a:srgbClr val="000000"/>
              </a:buClr>
              <a:buFont typeface="Arial" panose="020B0604020202090204"/>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7965">
              <a:lnSpc>
                <a:spcPct val="100000"/>
              </a:lnSpc>
              <a:spcBef>
                <a:spcPts val="480"/>
              </a:spcBef>
              <a:buClr>
                <a:srgbClr val="000000"/>
              </a:buClr>
              <a:buFont typeface="Arial" panose="020B0604020202090204"/>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50305040509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503050405090304"/>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lvl1pPr>
              <a:defRPr>
                <a:latin typeface="Times New Roman" panose="02020503050405090304" pitchFamily="18" charset="0"/>
              </a:defRPr>
            </a:lvl1pPr>
          </a:lstStyle>
          <a:p>
            <a:pPr algn="r"/>
            <a:fld id="{1CFDC92E-FF5D-4613-8499-B15BC16E50D9}" type="slidenum">
              <a:rPr lang="en-US" sz="1200" spc="-1" smtClean="0">
                <a:solidFill>
                  <a:srgbClr val="898989"/>
                </a:solidFill>
                <a:ea typeface="MS PGothic"/>
              </a:rPr>
              <a:t>‹#›</a:t>
            </a:fld>
            <a:endParaRPr lang="en-GB" sz="1200" spc="-1" dirty="0">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50305040509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Times New Roman" panose="02020503050405090304" pitchFamily="18"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panose="02020503050405090304" pitchFamily="18"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panose="02020503050405090304" pitchFamily="18"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58216"/>
            <a:ext cx="9144000" cy="5803842"/>
          </a:xfrm>
          <a:prstGeom prst="rect">
            <a:avLst/>
          </a:prstGeom>
          <a:noFill/>
          <a:ln w="9360">
            <a:noFill/>
          </a:ln>
        </p:spPr>
        <p:txBody>
          <a:bodyPr>
            <a:noAutofit/>
          </a:bodyPr>
          <a:lstStyle/>
          <a:p>
            <a:pPr algn="ctr">
              <a:lnSpc>
                <a:spcPct val="100000"/>
              </a:lnSpc>
              <a:spcBef>
                <a:spcPts val="400"/>
              </a:spcBef>
            </a:pPr>
            <a:r>
              <a:rPr lang="en-IN" sz="2000" b="1" dirty="0">
                <a:latin typeface="Times New Roman" panose="02020503050405090304" pitchFamily="18" charset="0"/>
                <a:ea typeface="Calibri" panose="020F0502020204030204" pitchFamily="34" charset="0"/>
                <a:cs typeface="Times New Roman" panose="02020503050405090304" pitchFamily="18" charset="0"/>
                <a:sym typeface="+mn-ea"/>
              </a:rPr>
              <a:t>Project Presentation of Industry Oriented Hands on Experience (22CS422)</a:t>
            </a:r>
            <a:endParaRPr lang="en-IN" sz="2000" b="1" dirty="0">
              <a:latin typeface="Times New Roman" panose="02020503050405090304" pitchFamily="18" charset="0"/>
              <a:ea typeface="Calibri" panose="020F0502020204030204" pitchFamily="34" charset="0"/>
              <a:cs typeface="Times New Roman" panose="02020503050405090304" pitchFamily="18" charset="0"/>
            </a:endParaRPr>
          </a:p>
          <a:p>
            <a:pPr algn="ctr">
              <a:lnSpc>
                <a:spcPct val="100000"/>
              </a:lnSpc>
              <a:spcBef>
                <a:spcPts val="400"/>
              </a:spcBef>
            </a:pPr>
            <a:r>
              <a:rPr lang="en-US" sz="2000" b="1" spc="-1" dirty="0">
                <a:latin typeface="Times New Roman" panose="02020503050405090304" pitchFamily="18" charset="0"/>
                <a:ea typeface="Calibri" panose="020F0502020204030204" pitchFamily="34" charset="0"/>
                <a:cs typeface="Times New Roman" panose="02020503050405090304" pitchFamily="18" charset="0"/>
                <a:sym typeface="+mn-ea"/>
              </a:rPr>
              <a:t>On</a:t>
            </a:r>
          </a:p>
          <a:p>
            <a:pPr algn="ctr">
              <a:lnSpc>
                <a:spcPct val="100000"/>
              </a:lnSpc>
              <a:spcBef>
                <a:spcPts val="400"/>
              </a:spcBef>
            </a:pPr>
            <a:r>
              <a:rPr lang="en-GB" sz="3600" b="1" dirty="0">
                <a:solidFill>
                  <a:srgbClr val="3A30FA"/>
                </a:solidFill>
                <a:latin typeface="Times New Roman" panose="02020503050405090304"/>
                <a:ea typeface="Times New Roman" panose="02020503050405090304"/>
                <a:cs typeface="Times New Roman" panose="02020503050405090304"/>
                <a:sym typeface="Times New Roman" panose="02020503050405090304"/>
              </a:rPr>
              <a:t> </a:t>
            </a:r>
            <a:r>
              <a:rPr lang="en-US" sz="3600" b="1" dirty="0">
                <a:effectLst>
                  <a:outerShdw blurRad="38100" dist="19050" dir="2700000" algn="tl" rotWithShape="0">
                    <a:schemeClr val="dk1">
                      <a:alpha val="40000"/>
                      <a:alpha val="40000"/>
                    </a:schemeClr>
                  </a:outerShdw>
                </a:effectLst>
                <a:latin typeface="Times New Roman" panose="02020503050405090304" pitchFamily="18" charset="0"/>
                <a:ea typeface="Times New Roman" panose="02020503050405090304"/>
                <a:cs typeface="Times New Roman" panose="02020503050405090304" pitchFamily="18" charset="0"/>
                <a:sym typeface="Times New Roman" panose="02020503050405090304"/>
              </a:rPr>
              <a:t>AutoFix</a:t>
            </a:r>
            <a:r>
              <a:rPr lang="en-US" altLang="en-GB" sz="3600" b="1" dirty="0">
                <a:solidFill>
                  <a:schemeClr val="tx1"/>
                </a:solidFill>
                <a:effectLst>
                  <a:outerShdw blurRad="38100" dist="19050" dir="2700000" algn="tl" rotWithShape="0">
                    <a:schemeClr val="dk1">
                      <a:alpha val="40000"/>
                      <a:alpha val="40000"/>
                    </a:schemeClr>
                  </a:outerShdw>
                </a:effectLst>
                <a:latin typeface="Times New Roman" panose="02020503050405090304" pitchFamily="18" charset="0"/>
                <a:ea typeface="Times New Roman" panose="02020503050405090304"/>
                <a:cs typeface="Times New Roman" panose="02020503050405090304" pitchFamily="18" charset="0"/>
                <a:sym typeface="Times New Roman" panose="02020503050405090304"/>
              </a:rPr>
              <a:t> - </a:t>
            </a:r>
            <a:r>
              <a:rPr lang="en-US" sz="3600" b="1" dirty="0">
                <a:solidFill>
                  <a:srgbClr val="000000"/>
                </a:solidFill>
                <a:latin typeface="Times New Roman" panose="02020603050405020304" pitchFamily="18" charset="0"/>
              </a:rPr>
              <a:t>Instant Vehicle Booking Service</a:t>
            </a:r>
            <a:endParaRPr lang="en-US" sz="3600" dirty="0">
              <a:latin typeface="Times New Roman" panose="02020503050405090304" pitchFamily="18" charset="0"/>
              <a:ea typeface="Calibri" panose="020F0502020204030204" pitchFamily="34" charset="0"/>
              <a:cs typeface="Times New Roman" panose="02020503050405090304" pitchFamily="18" charset="0"/>
            </a:endParaRPr>
          </a:p>
          <a:p>
            <a:pPr algn="ctr">
              <a:lnSpc>
                <a:spcPct val="100000"/>
              </a:lnSpc>
              <a:spcBef>
                <a:spcPts val="400"/>
              </a:spcBef>
            </a:pPr>
            <a:endParaRPr lang="en-US" sz="3200" dirty="0">
              <a:latin typeface="Times New Roman" panose="02020503050405090304" pitchFamily="18" charset="0"/>
              <a:ea typeface="Calibri" panose="020F0502020204030204" pitchFamily="34" charset="0"/>
              <a:cs typeface="Times New Roman" panose="02020503050405090304" pitchFamily="18" charset="0"/>
            </a:endParaRPr>
          </a:p>
          <a:p>
            <a:pPr algn="ctr">
              <a:spcBef>
                <a:spcPts val="400"/>
              </a:spcBef>
            </a:pPr>
            <a:r>
              <a:rPr 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Shivam Sharma [2211981367]</a:t>
            </a:r>
            <a:br>
              <a:rPr 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br>
            <a:r>
              <a:rPr lang="en-US"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Kartik Chauhan</a:t>
            </a:r>
            <a:r>
              <a:rPr 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2211981193</a:t>
            </a:r>
            <a:r>
              <a:rPr 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a:t>
            </a:r>
          </a:p>
          <a:p>
            <a:pPr algn="ctr">
              <a:spcBef>
                <a:spcPts val="400"/>
              </a:spcBef>
            </a:pPr>
            <a:r>
              <a:rPr lang="en-GB" alt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Prashant Pathania [2211981270]</a:t>
            </a:r>
          </a:p>
          <a:p>
            <a:pPr algn="ctr">
              <a:spcBef>
                <a:spcPts val="400"/>
              </a:spcBef>
            </a:pPr>
            <a:r>
              <a:rPr lang="en-GB" alt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Piyush </a:t>
            </a:r>
            <a:r>
              <a:rPr lang="en-GB" altLang="en-GB" sz="2000" dirty="0" err="1">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Sankhyan</a:t>
            </a:r>
            <a:r>
              <a:rPr lang="en-GB" alt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[2211981268]</a:t>
            </a:r>
            <a:r>
              <a:rPr lang="en-US" altLang="en-GB" sz="20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p>
          <a:p>
            <a:pPr algn="ctr">
              <a:lnSpc>
                <a:spcPct val="100000"/>
              </a:lnSpc>
              <a:spcBef>
                <a:spcPts val="400"/>
              </a:spcBef>
            </a:pPr>
            <a:endParaRPr lang="en-US" altLang="en-GB" sz="2000" b="1"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algn="ctr">
              <a:lnSpc>
                <a:spcPct val="100000"/>
              </a:lnSpc>
              <a:spcBef>
                <a:spcPts val="400"/>
              </a:spcBef>
            </a:pPr>
            <a:r>
              <a:rPr lang="en-US" sz="2000" spc="-1" dirty="0">
                <a:solidFill>
                  <a:srgbClr val="000000"/>
                </a:solidFill>
                <a:latin typeface="Times New Roman" panose="02020503050405090304" pitchFamily="18" charset="0"/>
                <a:ea typeface="MS PGothic"/>
                <a:cs typeface="Times New Roman" panose="02020503050405090304" pitchFamily="18" charset="0"/>
                <a:sym typeface="+mn-ea"/>
              </a:rPr>
              <a:t>Supervised By </a:t>
            </a:r>
            <a:endParaRPr lang="en-US" sz="2000" spc="-1" dirty="0">
              <a:solidFill>
                <a:srgbClr val="000000"/>
              </a:solidFill>
              <a:latin typeface="Times New Roman" panose="02020503050405090304" pitchFamily="18" charset="0"/>
              <a:ea typeface="MS PGothic"/>
              <a:cs typeface="Times New Roman" panose="02020503050405090304" pitchFamily="18" charset="0"/>
            </a:endParaRPr>
          </a:p>
          <a:p>
            <a:pPr algn="ctr">
              <a:lnSpc>
                <a:spcPct val="100000"/>
              </a:lnSpc>
              <a:spcBef>
                <a:spcPts val="400"/>
              </a:spcBef>
            </a:pPr>
            <a:r>
              <a:rPr lang="en-US" altLang="en-GB" sz="2000" b="1"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sz="2000" b="1"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Dr. Rajat </a:t>
            </a:r>
            <a:r>
              <a:rPr lang="en-US" altLang="en-US" sz="2000" b="1" dirty="0" err="1">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Takkar</a:t>
            </a:r>
            <a:endParaRPr lang="en-US" altLang="en-US" sz="2000" b="1" i="0" u="none" strike="noStrike" cap="none"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marL="0" marR="0" lvl="0" indent="0" algn="l" rtl="0">
              <a:lnSpc>
                <a:spcPct val="150000"/>
              </a:lnSpc>
              <a:spcBef>
                <a:spcPts val="0"/>
              </a:spcBef>
              <a:spcAft>
                <a:spcPts val="0"/>
              </a:spcAft>
              <a:buNone/>
            </a:pPr>
            <a:endParaRPr lang="en-US" sz="2000" dirty="0"/>
          </a:p>
          <a:p>
            <a:pPr algn="ctr">
              <a:lnSpc>
                <a:spcPct val="100000"/>
              </a:lnSpc>
              <a:spcBef>
                <a:spcPts val="400"/>
              </a:spcBef>
            </a:pPr>
            <a:r>
              <a:rPr lang="en-US" sz="2200" spc="-1" dirty="0">
                <a:latin typeface="Times New Roman" panose="02020503050405090304" pitchFamily="18" charset="0"/>
                <a:ea typeface="MS PGothic"/>
                <a:cs typeface="Times New Roman" panose="02020503050405090304" pitchFamily="18" charset="0"/>
              </a:rPr>
              <a:t>Department of </a:t>
            </a:r>
            <a:r>
              <a:rPr lang="en-US" sz="2200" b="0" strike="noStrike" spc="-1" dirty="0">
                <a:latin typeface="Times New Roman" panose="02020503050405090304" pitchFamily="18" charset="0"/>
                <a:ea typeface="MS PGothic"/>
                <a:cs typeface="Times New Roman" panose="02020503050405090304" pitchFamily="18" charset="0"/>
              </a:rPr>
              <a:t>Computer Science and Engineering, </a:t>
            </a:r>
          </a:p>
          <a:p>
            <a:pPr algn="ctr">
              <a:lnSpc>
                <a:spcPct val="100000"/>
              </a:lnSpc>
              <a:spcBef>
                <a:spcPts val="400"/>
              </a:spcBef>
            </a:pPr>
            <a:r>
              <a:rPr lang="en-US" sz="2200" b="0" strike="noStrike" spc="-1" dirty="0">
                <a:latin typeface="Times New Roman" panose="02020503050405090304" pitchFamily="18" charset="0"/>
                <a:ea typeface="MS PGothic"/>
                <a:cs typeface="Times New Roman" panose="0202050305040509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503050405090304" pitchFamily="18" charset="0"/>
            </a:endParaRPr>
          </a:p>
          <a:p>
            <a:pPr>
              <a:lnSpc>
                <a:spcPct val="100000"/>
              </a:lnSpc>
              <a:spcBef>
                <a:spcPts val="640"/>
              </a:spcBef>
            </a:pPr>
            <a:endParaRPr lang="en-US" sz="2000" b="0" strike="noStrike" spc="-1" dirty="0">
              <a:solidFill>
                <a:srgbClr val="000000"/>
              </a:solidFill>
              <a:latin typeface="Times New Roman" panose="0202050305040509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553080" cy="837720"/>
          </a:xfrm>
          <a:prstGeom prst="rect">
            <a:avLst/>
          </a:prstGeom>
          <a:noFill/>
          <a:ln w="9360">
            <a:noFill/>
          </a:ln>
        </p:spPr>
        <p:txBody>
          <a:bodyPr anchor="ctr">
            <a:noAutofit/>
          </a:bodyPr>
          <a:lstStyle/>
          <a:p>
            <a:pPr algn="ctr">
              <a:lnSpc>
                <a:spcPct val="100000"/>
              </a:lnSpc>
            </a:pPr>
            <a:r>
              <a:rPr lang="en-US" sz="3200" b="1"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2</a:t>
            </a:fld>
            <a:endParaRPr lang="en-GB" sz="1200" b="0" strike="noStrike" spc="-1" dirty="0">
              <a:latin typeface="Times New Roman" panose="02020503050405090304"/>
            </a:endParaRPr>
          </a:p>
        </p:txBody>
      </p:sp>
      <p:sp>
        <p:nvSpPr>
          <p:cNvPr id="5" name="TextShape 2"/>
          <p:cNvSpPr txBox="1"/>
          <p:nvPr/>
        </p:nvSpPr>
        <p:spPr>
          <a:xfrm>
            <a:off x="233045" y="977265"/>
            <a:ext cx="8743315" cy="5883910"/>
          </a:xfrm>
          <a:prstGeom prst="rect">
            <a:avLst/>
          </a:prstGeom>
          <a:noFill/>
          <a:ln w="9360">
            <a:noFill/>
          </a:ln>
        </p:spPr>
        <p:txBody>
          <a:bodyPr>
            <a:noAutofit/>
            <a:scene3d>
              <a:camera prst="orthographicFront"/>
              <a:lightRig rig="threePt" dir="t"/>
            </a:scene3d>
          </a:bodyPr>
          <a:lstStyle/>
          <a:p>
            <a:pPr algn="l">
              <a:lnSpc>
                <a:spcPct val="100000"/>
              </a:lnSpc>
              <a:spcBef>
                <a:spcPts val="400"/>
              </a:spcBef>
            </a:pPr>
            <a:endPar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p>
            <a:pPr algn="just">
              <a:spcBef>
                <a:spcPts val="400"/>
              </a:spcBef>
            </a:pPr>
            <a:r>
              <a:rPr lang="en-US" altLang="en-US" sz="2400" spc="-1" dirty="0">
                <a:ln/>
                <a:latin typeface="Times New Roman" panose="02020603050405020304" pitchFamily="18" charset="0"/>
                <a:ea typeface="Calibri" panose="020F0502020204030204" pitchFamily="34" charset="0"/>
                <a:cs typeface="Times New Roman" panose="02020603050405020304" pitchFamily="18" charset="0"/>
              </a:rPr>
              <a:t>AutoFix is a web-based service that makes it easier for people to get their cars fixed and maintained. It makes it simple and quick to find mechanics in your area, schedule service appointments, and handle repair requests online. The system has a user-friendly interface and makes sure that only </a:t>
            </a:r>
            <a:r>
              <a:rPr lang="en-US" altLang="en-US" sz="2400" spc="-1" dirty="0" err="1">
                <a:ln/>
                <a:latin typeface="Times New Roman" panose="02020603050405020304" pitchFamily="18" charset="0"/>
                <a:ea typeface="Calibri" panose="020F0502020204030204" pitchFamily="34" charset="0"/>
                <a:cs typeface="Times New Roman" panose="02020603050405020304" pitchFamily="18" charset="0"/>
              </a:rPr>
              <a:t>authorised</a:t>
            </a:r>
            <a:r>
              <a:rPr lang="en-US" altLang="en-US" sz="2400" spc="-1" dirty="0">
                <a:ln/>
                <a:latin typeface="Times New Roman" panose="02020603050405020304" pitchFamily="18" charset="0"/>
                <a:ea typeface="Calibri" panose="020F0502020204030204" pitchFamily="34" charset="0"/>
                <a:cs typeface="Times New Roman" panose="02020603050405020304" pitchFamily="18" charset="0"/>
              </a:rPr>
              <a:t> users can access it safely. AutoFix makes it easy for users and service providers to talk to each other by combining frontend and backend technologies. It makes it easier to find reliable mechanics and cuts down on the time and effort needed to do so. The platform's main goal is to make vehicle service management easier, more open, and more efficient.</a:t>
            </a:r>
          </a:p>
          <a:p>
            <a:pPr algn="l">
              <a:lnSpc>
                <a:spcPct val="100000"/>
              </a:lnSpc>
              <a:spcBef>
                <a:spcPts val="400"/>
              </a:spcBef>
            </a:pPr>
            <a:endPar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46273" cy="914040"/>
          </a:xfrm>
        </p:spPr>
        <p:txBody>
          <a:bodyPr/>
          <a:lstStyle/>
          <a:p>
            <a:pPr algn="ctr"/>
            <a:r>
              <a:rPr lang="en-US" altLang="en-IN" sz="3200" b="1" dirty="0">
                <a:ea typeface="Calibri" panose="020F0502020204030204" pitchFamily="34" charset="0"/>
                <a:cs typeface="Times New Roman" panose="02020503050405090304" pitchFamily="18" charset="0"/>
              </a:rPr>
              <a:t>OBJECTIVE</a:t>
            </a:r>
          </a:p>
        </p:txBody>
      </p:sp>
      <p:sp>
        <p:nvSpPr>
          <p:cNvPr id="8" name="Text Box 7"/>
          <p:cNvSpPr txBox="1"/>
          <p:nvPr/>
        </p:nvSpPr>
        <p:spPr>
          <a:xfrm>
            <a:off x="240665" y="996950"/>
            <a:ext cx="8703310" cy="5763895"/>
          </a:xfrm>
          <a:prstGeom prst="rect">
            <a:avLst/>
          </a:prstGeom>
          <a:noFill/>
        </p:spPr>
        <p:txBody>
          <a:bodyPr wrap="square" rtlCol="0">
            <a:noAutofit/>
          </a:bodyPr>
          <a:lstStyle/>
          <a:p>
            <a:pPr algn="just"/>
            <a:endParaRPr lang="en-US" altLang="en-US" sz="2000" dirty="0">
              <a:latin typeface="Times New Roman" panose="02020503050405090304" pitchFamily="18" charset="0"/>
              <a:cs typeface="Times New Roman" panose="02020503050405090304" pitchFamily="18" charset="0"/>
            </a:endParaRPr>
          </a:p>
          <a:p>
            <a:pPr algn="just"/>
            <a:r>
              <a:rPr lang="en-US" altLang="en-US" sz="2400" dirty="0">
                <a:latin typeface="Times New Roman" panose="02020503050405090304" pitchFamily="18" charset="0"/>
                <a:cs typeface="Times New Roman" panose="02020503050405090304" pitchFamily="18" charset="0"/>
              </a:rPr>
              <a:t>The goal of this project is to create a web-based platform that is both reliable and easy to use that connects users with mechanics in their area who can fix and maintain their cars. The goal is to make it easier to find, book, and manage service requests using a digital system that works well. The main goals of the project are to make sure that users can log in safely, that the frontend and backend can talk to each other easily, and that the database can handle data correctly. It also wants to make it easier for users to find reliable mechanics by cutting down on the time, effort, and uncertainty they have to deal with. The main goal is to make vehicle service management more convenient, accessible, and open, while also coming up with a solution that can grow and work well.</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495" y="0"/>
            <a:ext cx="5486040" cy="914040"/>
          </a:xfrm>
        </p:spPr>
        <p:txBody>
          <a:bodyPr/>
          <a:lstStyle/>
          <a:p>
            <a:r>
              <a:rPr lang="en-US" sz="3600" b="1">
                <a:cs typeface="Times New Roman" panose="02020503050405090304" pitchFamily="18" charset="0"/>
              </a:rPr>
              <a:t> PROBLEM STATEMENT</a:t>
            </a:r>
          </a:p>
        </p:txBody>
      </p:sp>
      <p:sp>
        <p:nvSpPr>
          <p:cNvPr id="3" name="Subtitle 2"/>
          <p:cNvSpPr>
            <a:spLocks noGrp="1"/>
          </p:cNvSpPr>
          <p:nvPr>
            <p:ph type="subTitle"/>
          </p:nvPr>
        </p:nvSpPr>
        <p:spPr>
          <a:xfrm>
            <a:off x="152401" y="-315686"/>
            <a:ext cx="8904513" cy="6822531"/>
          </a:xfrm>
        </p:spPr>
        <p:txBody>
          <a:bodyPr/>
          <a:lstStyle/>
          <a:p>
            <a:pPr algn="just"/>
            <a:r>
              <a:rPr lang="en-US" altLang="en-US" sz="2400" dirty="0">
                <a:cs typeface="Times New Roman" panose="02020503050405090304" pitchFamily="18" charset="0"/>
              </a:rPr>
              <a:t>Finding trustworthy mechanics who are close by to fix and maintain your car can be hard and take a lot of time in today's fast-paced world. Users often rely on manual searches, personal contacts, or sources that haven't been checked out, which can cause delays, bad service, and a lack of trust in the service providers.</a:t>
            </a:r>
          </a:p>
          <a:p>
            <a:pPr algn="just"/>
            <a:endParaRPr lang="en-US" altLang="en-US" sz="2400" dirty="0">
              <a:cs typeface="Times New Roman" panose="02020503050405090304" pitchFamily="18" charset="0"/>
            </a:endParaRPr>
          </a:p>
          <a:p>
            <a:pPr algn="just"/>
            <a:r>
              <a:rPr lang="en-US" altLang="en-US" sz="2400" dirty="0">
                <a:cs typeface="Times New Roman" panose="02020503050405090304" pitchFamily="18" charset="0"/>
              </a:rPr>
              <a:t>Also, there isn't one central place where people can easily search for, compare, and book vehicle repair services. Not having a good way to handle service requests makes things confusing and wastes time. This shows that we need a digital solution that is open, saves time, and lets us quickly find trusted mechanics.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15100" cy="914040"/>
          </a:xfrm>
        </p:spPr>
        <p:txBody>
          <a:bodyPr/>
          <a:lstStyle/>
          <a:p>
            <a:pPr algn="ctr"/>
            <a:r>
              <a:rPr lang="en-US" altLang="en-US" sz="3200" b="1" dirty="0">
                <a:ea typeface="Calibri" panose="020F0502020204030204" pitchFamily="34" charset="0"/>
                <a:cs typeface="Times New Roman" panose="02020503050405090304" pitchFamily="18" charset="0"/>
              </a:rPr>
              <a:t>METHODOLOGY</a:t>
            </a:r>
          </a:p>
        </p:txBody>
      </p:sp>
      <p:sp>
        <p:nvSpPr>
          <p:cNvPr id="3" name="Text Box 2"/>
          <p:cNvSpPr txBox="1"/>
          <p:nvPr/>
        </p:nvSpPr>
        <p:spPr>
          <a:xfrm>
            <a:off x="136525" y="913765"/>
            <a:ext cx="8877300" cy="5710555"/>
          </a:xfrm>
          <a:prstGeom prst="rect">
            <a:avLst/>
          </a:prstGeom>
          <a:noFill/>
        </p:spPr>
        <p:txBody>
          <a:bodyPr wrap="square" rtlCol="0">
            <a:noAutofit/>
          </a:bodyPr>
          <a:lstStyle/>
          <a:p>
            <a:pPr algn="just"/>
            <a:r>
              <a:rPr lang="en-US" altLang="en-US" sz="2400" dirty="0">
                <a:latin typeface="Times New Roman" panose="02020503050405090304" pitchFamily="18" charset="0"/>
                <a:cs typeface="Times New Roman" panose="02020503050405090304" pitchFamily="18" charset="0"/>
              </a:rPr>
              <a:t>The development of the AutoFix project is carried out using a structured full stack approach, beginning with requirement analysis and system design. Features such as user login, booking of services and management of requests were identified and designed. The system is built with a three-tier architecture separating the system into frontend, backend, and database to achieve better scalability and performance.</a:t>
            </a:r>
          </a:p>
          <a:p>
            <a:pPr algn="just"/>
            <a:endParaRPr lang="en-US" altLang="en-US" sz="2400" dirty="0">
              <a:latin typeface="Times New Roman" panose="02020503050405090304" pitchFamily="18" charset="0"/>
              <a:cs typeface="Times New Roman" panose="02020503050405090304" pitchFamily="18" charset="0"/>
            </a:endParaRPr>
          </a:p>
          <a:p>
            <a:pPr algn="just"/>
            <a:r>
              <a:rPr lang="en-US" altLang="en-US" sz="2400" dirty="0">
                <a:latin typeface="Times New Roman" panose="02020503050405090304" pitchFamily="18" charset="0"/>
                <a:cs typeface="Times New Roman" panose="02020503050405090304" pitchFamily="18" charset="0"/>
              </a:rPr>
              <a:t>The frontend was developed using React.js to create an interactive and user-friendly interface, while the backend was built using Node.js and Express.js to handle APIs and business logic. MongoDB was used for efficient data storage and handling. The system was tested at different phases to ensure smooth integration, functionality and security providing a solid web based solution.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73536" cy="914040"/>
          </a:xfrm>
        </p:spPr>
        <p:txBody>
          <a:bodyPr/>
          <a:lstStyle/>
          <a:p>
            <a:pPr algn="ctr"/>
            <a:r>
              <a:rPr lang="en-IN" sz="3200" b="1" dirty="0">
                <a:ea typeface="Calibri" panose="020F0502020204030204" pitchFamily="34" charset="0"/>
                <a:cs typeface="Times New Roman" panose="02020503050405090304" pitchFamily="18" charset="0"/>
              </a:rPr>
              <a:t>     </a:t>
            </a:r>
            <a:r>
              <a:rPr lang="en-US" altLang="en-IN" sz="3200" b="1" dirty="0">
                <a:ea typeface="Calibri" panose="020F0502020204030204" pitchFamily="34" charset="0"/>
                <a:cs typeface="Times New Roman" panose="02020503050405090304" pitchFamily="18" charset="0"/>
              </a:rPr>
              <a:t>FEATURES </a:t>
            </a:r>
          </a:p>
        </p:txBody>
      </p:sp>
      <p:sp>
        <p:nvSpPr>
          <p:cNvPr id="5" name="Text Box 4"/>
          <p:cNvSpPr txBox="1"/>
          <p:nvPr/>
        </p:nvSpPr>
        <p:spPr>
          <a:xfrm>
            <a:off x="130630" y="1175657"/>
            <a:ext cx="8857796" cy="5321028"/>
          </a:xfrm>
          <a:prstGeom prst="rect">
            <a:avLst/>
          </a:prstGeom>
          <a:noFill/>
        </p:spPr>
        <p:txBody>
          <a:bodyPr wrap="square" rtlCol="0">
            <a:noAutofit/>
          </a:bodyPr>
          <a:lstStyle/>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System for registering and logging in users</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JWT for safe authentication Find mechanics near you</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Simple System for Booking Services</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User Dashboard for Managing Bookings</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Handling Service Requests in Real Time</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Admin Panel for Controlling Services and Users</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An interface that is easy to use and responsive</a:t>
            </a:r>
          </a:p>
          <a:p>
            <a:pPr marL="342900" indent="-342900" algn="just">
              <a:buFont typeface="Arial" panose="020B0604020202090204" pitchFamily="34" charset="0"/>
              <a:buChar char="•"/>
            </a:pPr>
            <a:r>
              <a:rPr lang="en-US" altLang="en-US" sz="2400" dirty="0">
                <a:latin typeface="Times New Roman" panose="02020503050405090304" pitchFamily="18" charset="0"/>
                <a:cs typeface="Times New Roman" panose="02020503050405090304" pitchFamily="18" charset="0"/>
              </a:rPr>
              <a:t>Using MongoDB for efficient database management and REST APIs for fast communication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6D0E5-EFBB-BF51-C840-F0CB2DBCEF38}"/>
              </a:ext>
            </a:extLst>
          </p:cNvPr>
          <p:cNvSpPr>
            <a:spLocks noGrp="1"/>
          </p:cNvSpPr>
          <p:nvPr>
            <p:ph type="title"/>
          </p:nvPr>
        </p:nvSpPr>
        <p:spPr/>
        <p:txBody>
          <a:bodyPr/>
          <a:lstStyle/>
          <a:p>
            <a:r>
              <a:rPr lang="en-US" b="1" dirty="0"/>
              <a:t>     UML DIAGRAM</a:t>
            </a:r>
            <a:endParaRPr lang="en-IN" b="1" dirty="0"/>
          </a:p>
        </p:txBody>
      </p:sp>
      <p:sp>
        <p:nvSpPr>
          <p:cNvPr id="3" name="Subtitle 2">
            <a:extLst>
              <a:ext uri="{FF2B5EF4-FFF2-40B4-BE49-F238E27FC236}">
                <a16:creationId xmlns:a16="http://schemas.microsoft.com/office/drawing/2014/main" id="{78FC1F63-FD45-26C7-A9F6-0622CF3624DD}"/>
              </a:ext>
            </a:extLst>
          </p:cNvPr>
          <p:cNvSpPr>
            <a:spLocks noGrp="1"/>
          </p:cNvSpPr>
          <p:nvPr>
            <p:ph type="subTitle"/>
          </p:nvPr>
        </p:nvSpPr>
        <p:spPr/>
        <p:txBody>
          <a:bodyPr/>
          <a:lstStyle/>
          <a:p>
            <a:pPr marL="0" indent="0">
              <a:buNone/>
            </a:pPr>
            <a:endParaRPr lang="en-IN" dirty="0"/>
          </a:p>
        </p:txBody>
      </p:sp>
      <p:pic>
        <p:nvPicPr>
          <p:cNvPr id="9" name="Picture 8">
            <a:extLst>
              <a:ext uri="{FF2B5EF4-FFF2-40B4-BE49-F238E27FC236}">
                <a16:creationId xmlns:a16="http://schemas.microsoft.com/office/drawing/2014/main" id="{728BB418-0028-BD52-8809-56D0EBC06C9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555172" y="1276199"/>
            <a:ext cx="8229240" cy="5272673"/>
          </a:xfrm>
          <a:prstGeom prst="rect">
            <a:avLst/>
          </a:prstGeom>
        </p:spPr>
      </p:pic>
      <p:pic>
        <p:nvPicPr>
          <p:cNvPr id="11" name="Picture 10">
            <a:extLst>
              <a:ext uri="{FF2B5EF4-FFF2-40B4-BE49-F238E27FC236}">
                <a16:creationId xmlns:a16="http://schemas.microsoft.com/office/drawing/2014/main" id="{BB97C9B9-F815-D64A-FB7C-B997B7F25A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914040"/>
            <a:ext cx="9144000" cy="5715360"/>
          </a:xfrm>
          <a:prstGeom prst="rect">
            <a:avLst/>
          </a:prstGeom>
        </p:spPr>
      </p:pic>
    </p:spTree>
    <p:extLst>
      <p:ext uri="{BB962C8B-B14F-4D97-AF65-F5344CB8AC3E}">
        <p14:creationId xmlns:p14="http://schemas.microsoft.com/office/powerpoint/2010/main" val="2183534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38DE1-7C02-AF58-00F0-0B1BC636C3EF}"/>
              </a:ext>
            </a:extLst>
          </p:cNvPr>
          <p:cNvSpPr>
            <a:spLocks noGrp="1"/>
          </p:cNvSpPr>
          <p:nvPr>
            <p:ph type="title"/>
          </p:nvPr>
        </p:nvSpPr>
        <p:spPr/>
        <p:txBody>
          <a:bodyPr/>
          <a:lstStyle/>
          <a:p>
            <a:r>
              <a:rPr lang="en-US" b="1" dirty="0"/>
              <a:t>   CLASS DIAGRAM</a:t>
            </a:r>
            <a:endParaRPr lang="en-IN" b="1" dirty="0"/>
          </a:p>
        </p:txBody>
      </p:sp>
      <p:sp>
        <p:nvSpPr>
          <p:cNvPr id="3" name="Subtitle 2">
            <a:extLst>
              <a:ext uri="{FF2B5EF4-FFF2-40B4-BE49-F238E27FC236}">
                <a16:creationId xmlns:a16="http://schemas.microsoft.com/office/drawing/2014/main" id="{2AEC23C7-E05D-B805-1C94-C23680158676}"/>
              </a:ext>
            </a:extLst>
          </p:cNvPr>
          <p:cNvSpPr>
            <a:spLocks noGrp="1"/>
          </p:cNvSpPr>
          <p:nvPr>
            <p:ph type="subTitle"/>
          </p:nvPr>
        </p:nvSpPr>
        <p:spPr/>
        <p:txBody>
          <a:bodyPr/>
          <a:lstStyle/>
          <a:p>
            <a:endParaRPr lang="en-IN" dirty="0"/>
          </a:p>
        </p:txBody>
      </p:sp>
      <p:pic>
        <p:nvPicPr>
          <p:cNvPr id="5" name="Picture 4">
            <a:extLst>
              <a:ext uri="{FF2B5EF4-FFF2-40B4-BE49-F238E27FC236}">
                <a16:creationId xmlns:a16="http://schemas.microsoft.com/office/drawing/2014/main" id="{F881F6BD-FD1E-A66E-5669-8A0469BE646C}"/>
              </a:ext>
            </a:extLst>
          </p:cNvPr>
          <p:cNvPicPr>
            <a:picLocks noChangeAspect="1"/>
          </p:cNvPicPr>
          <p:nvPr/>
        </p:nvPicPr>
        <p:blipFill>
          <a:blip r:embed="rId2"/>
          <a:stretch>
            <a:fillRect/>
          </a:stretch>
        </p:blipFill>
        <p:spPr>
          <a:xfrm>
            <a:off x="0" y="827315"/>
            <a:ext cx="9144000" cy="5910942"/>
          </a:xfrm>
          <a:prstGeom prst="rect">
            <a:avLst/>
          </a:prstGeom>
        </p:spPr>
      </p:pic>
    </p:spTree>
    <p:extLst>
      <p:ext uri="{BB962C8B-B14F-4D97-AF65-F5344CB8AC3E}">
        <p14:creationId xmlns:p14="http://schemas.microsoft.com/office/powerpoint/2010/main" val="100342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dirty="0"/>
              <a:t>     Technology Stack</a:t>
            </a:r>
          </a:p>
        </p:txBody>
      </p:sp>
      <p:sp>
        <p:nvSpPr>
          <p:cNvPr id="3" name="Text Box 2"/>
          <p:cNvSpPr txBox="1"/>
          <p:nvPr/>
        </p:nvSpPr>
        <p:spPr>
          <a:xfrm>
            <a:off x="169545" y="1321435"/>
            <a:ext cx="8832215" cy="5975350"/>
          </a:xfrm>
          <a:prstGeom prst="rect">
            <a:avLst/>
          </a:prstGeom>
          <a:noFill/>
        </p:spPr>
        <p:txBody>
          <a:bodyPr wrap="square" rtlCol="0">
            <a:noAutofit/>
          </a:bodyPr>
          <a:lstStyle/>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Frontend: JavaScript, CSS, HTML, and React.js</a:t>
            </a:r>
          </a:p>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Backend: Node.js and Express.js</a:t>
            </a:r>
          </a:p>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MongoDB is the database.</a:t>
            </a:r>
          </a:p>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JSON Web Token (JWT) is used for authentication.</a:t>
            </a:r>
          </a:p>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Postman for API Testing</a:t>
            </a:r>
          </a:p>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Git and GitHub for version control</a:t>
            </a:r>
          </a:p>
          <a:p>
            <a:pPr marL="342900" indent="-342900">
              <a:lnSpc>
                <a:spcPct val="110000"/>
              </a:lnSpc>
              <a:buFont typeface="Arial" panose="020B0604020202090204" pitchFamily="34" charset="0"/>
              <a:buChar char="•"/>
            </a:pPr>
            <a:r>
              <a:rPr lang="en-US" altLang="en-US" sz="2400" dirty="0">
                <a:latin typeface="Times New Roman" panose="02020603050405020304" pitchFamily="18" charset="0"/>
                <a:cs typeface="Times New Roman" panose="02020603050405020304" pitchFamily="18" charset="0"/>
              </a:rPr>
              <a:t>Visual Studio Code is a tool for developers.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25491" cy="831273"/>
          </a:xfrm>
        </p:spPr>
        <p:txBody>
          <a:bodyPr/>
          <a:lstStyle/>
          <a:p>
            <a:pPr algn="ctr"/>
            <a:r>
              <a:rPr lang="en-US" altLang="en-IN" sz="3200" b="1" dirty="0">
                <a:ea typeface="Calibri" panose="020F0502020204030204" pitchFamily="34" charset="0"/>
                <a:cs typeface="Times New Roman" panose="02020503050405090304" pitchFamily="18" charset="0"/>
              </a:rPr>
              <a:t>OUTCOMES</a:t>
            </a:r>
          </a:p>
        </p:txBody>
      </p:sp>
      <p:sp>
        <p:nvSpPr>
          <p:cNvPr id="4" name="Rectangle 1"/>
          <p:cNvSpPr>
            <a:spLocks noGrp="1" noChangeArrowheads="1"/>
          </p:cNvSpPr>
          <p:nvPr>
            <p:ph type="subTitle"/>
          </p:nvPr>
        </p:nvSpPr>
        <p:spPr bwMode="auto">
          <a:xfrm>
            <a:off x="0" y="831274"/>
            <a:ext cx="9143999" cy="3490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algn="just" eaLnBrk="0" fontAlgn="base" hangingPunct="0">
              <a:lnSpc>
                <a:spcPct val="100000"/>
              </a:lnSpc>
              <a:spcAft>
                <a:spcPct val="0"/>
              </a:spcAft>
            </a:pPr>
            <a:r>
              <a:rPr lang="en-US" altLang="en-US" sz="2400" dirty="0">
                <a:ea typeface="Calibri" panose="020F0502020204030204" pitchFamily="34" charset="0"/>
                <a:cs typeface="Times New Roman" panose="02020503050405090304" pitchFamily="18" charset="0"/>
              </a:rPr>
              <a:t>Made a web-based platform for booking vehicle services that works perfectly Made it easier to find and book mechanics in the area Made it easier for users and cut down on the time needed to find service Made sure that user authentication and data management were safe Made it easy for the frontend, backend, and database to work together . Better understanding of the ideas behind full stack development Built a system that can grow and add new features in the future.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 y="0"/>
            <a:ext cx="5486040" cy="914040"/>
          </a:xfrm>
        </p:spPr>
        <p:txBody>
          <a:bodyPr/>
          <a:lstStyle/>
          <a:p>
            <a:r>
              <a:rPr lang="en-US" b="1">
                <a:cs typeface="Times New Roman" panose="02020503050405090304" pitchFamily="18" charset="0"/>
              </a:rPr>
              <a:t>          </a:t>
            </a:r>
            <a:r>
              <a:rPr lang="en-US" sz="3200" b="1">
                <a:cs typeface="Times New Roman" panose="02020503050405090304" pitchFamily="18" charset="0"/>
              </a:rPr>
              <a:t>FUTURE SCOPE</a:t>
            </a:r>
          </a:p>
        </p:txBody>
      </p:sp>
      <p:sp>
        <p:nvSpPr>
          <p:cNvPr id="3" name="Subtitle 2"/>
          <p:cNvSpPr>
            <a:spLocks noGrp="1"/>
          </p:cNvSpPr>
          <p:nvPr>
            <p:ph type="subTitle"/>
          </p:nvPr>
        </p:nvSpPr>
        <p:spPr>
          <a:xfrm>
            <a:off x="239486" y="-1600199"/>
            <a:ext cx="8770529" cy="8216900"/>
          </a:xfrm>
        </p:spPr>
        <p:txBody>
          <a:bodyPr/>
          <a:lstStyle/>
          <a:p>
            <a:pPr marL="342900" indent="-342900" algn="just">
              <a:buFont typeface="Arial" panose="020B0604020202020204" pitchFamily="34" charset="0"/>
              <a:buChar char="•"/>
            </a:pPr>
            <a:r>
              <a:rPr lang="en-US" altLang="en-US" sz="2400" dirty="0"/>
              <a:t>Integration of online payment systems for smooth transactions</a:t>
            </a:r>
          </a:p>
          <a:p>
            <a:pPr marL="342900" indent="-342900" algn="just">
              <a:buFont typeface="Arial" panose="020B0604020202020204" pitchFamily="34" charset="0"/>
              <a:buChar char="•"/>
            </a:pPr>
            <a:r>
              <a:rPr lang="en-US" altLang="en-US" sz="2400" dirty="0"/>
              <a:t>Making a mobile app (for Android and iOS) to make it easier to use</a:t>
            </a:r>
          </a:p>
          <a:p>
            <a:pPr marL="342900" indent="-342900" algn="just">
              <a:buFont typeface="Arial" panose="020B0604020202020204" pitchFamily="34" charset="0"/>
              <a:buChar char="•"/>
            </a:pPr>
            <a:r>
              <a:rPr lang="en-US" altLang="en-US" sz="2400" dirty="0"/>
              <a:t>Tracking the mechanic's location and service status in real time</a:t>
            </a:r>
          </a:p>
          <a:p>
            <a:pPr marL="342900" indent="-342900" algn="just">
              <a:buFont typeface="Arial" panose="020B0604020202020204" pitchFamily="34" charset="0"/>
              <a:buChar char="•"/>
            </a:pPr>
            <a:r>
              <a:rPr lang="en-US" altLang="en-US" sz="2400" dirty="0"/>
              <a:t>Recommendations for services and nearby mechanics based on AI</a:t>
            </a:r>
          </a:p>
          <a:p>
            <a:pPr marL="342900" indent="-342900" algn="just">
              <a:buFont typeface="Arial" panose="020B0604020202020204" pitchFamily="34" charset="0"/>
              <a:buChar char="•"/>
            </a:pPr>
            <a:r>
              <a:rPr lang="en-US" altLang="en-US" sz="2400" dirty="0"/>
              <a:t>A rating and review system to make service more open</a:t>
            </a:r>
          </a:p>
          <a:p>
            <a:pPr marL="342900" indent="-342900" algn="just">
              <a:buFont typeface="Arial" panose="020B0604020202020204" pitchFamily="34" charset="0"/>
              <a:buChar char="•"/>
            </a:pPr>
            <a:r>
              <a:rPr lang="en-US" altLang="en-US" sz="2400" dirty="0"/>
              <a:t>GPS integration for accurate location-based services</a:t>
            </a:r>
          </a:p>
          <a:p>
            <a:pPr marL="342900" indent="-342900" algn="just">
              <a:buFont typeface="Arial" panose="020B0604020202020204" pitchFamily="34" charset="0"/>
              <a:buChar char="•"/>
            </a:pPr>
            <a:r>
              <a:rPr lang="en-US" altLang="en-US" sz="2400" dirty="0"/>
              <a:t>Growth to support more cities and a bigger user 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4709" cy="852055"/>
          </a:xfrm>
        </p:spPr>
        <p:txBody>
          <a:bodyPr/>
          <a:lstStyle/>
          <a:p>
            <a:pPr algn="ctr"/>
            <a:r>
              <a:rPr lang="en-US" altLang="en-IN" sz="3200" b="1" dirty="0">
                <a:ea typeface="Calibri" panose="020F0502020204030204" pitchFamily="34" charset="0"/>
                <a:cs typeface="Times New Roman" panose="02020503050405090304" pitchFamily="18" charset="0"/>
              </a:rPr>
              <a:t>CONCLUSION </a:t>
            </a:r>
            <a:endParaRPr lang="en-IN" sz="3200" b="1" dirty="0">
              <a:ea typeface="Calibri" panose="020F0502020204030204" pitchFamily="34" charset="0"/>
              <a:cs typeface="Times New Roman" panose="02020503050405090304" pitchFamily="18" charset="0"/>
            </a:endParaRPr>
          </a:p>
        </p:txBody>
      </p:sp>
      <p:sp>
        <p:nvSpPr>
          <p:cNvPr id="4" name="Text Box 3"/>
          <p:cNvSpPr txBox="1"/>
          <p:nvPr/>
        </p:nvSpPr>
        <p:spPr>
          <a:xfrm>
            <a:off x="141605" y="938530"/>
            <a:ext cx="8888730" cy="5276215"/>
          </a:xfrm>
          <a:prstGeom prst="rect">
            <a:avLst/>
          </a:prstGeom>
          <a:noFill/>
        </p:spPr>
        <p:txBody>
          <a:bodyPr wrap="square" rtlCol="0">
            <a:noAutofit/>
          </a:bodyPr>
          <a:lstStyle/>
          <a:p>
            <a:pPr algn="just"/>
            <a:endParaRPr lang="en-US" altLang="en-US" sz="2400" dirty="0">
              <a:latin typeface="Times New Roman" panose="02020503050405090304" pitchFamily="18" charset="0"/>
              <a:cs typeface="Times New Roman" panose="02020503050405090304" pitchFamily="18" charset="0"/>
            </a:endParaRPr>
          </a:p>
          <a:p>
            <a:pPr algn="just"/>
            <a:r>
              <a:rPr lang="en-US" altLang="en-US" sz="2400" dirty="0">
                <a:latin typeface="Times New Roman" panose="02020503050405090304" pitchFamily="18" charset="0"/>
                <a:cs typeface="Times New Roman" panose="02020503050405090304" pitchFamily="18" charset="0"/>
              </a:rPr>
              <a:t>The AutoFix project meets its goal of creating a platform for car repair and maintenance services that is both reliable and easy to use. It makes it easier for users to find mechanics nearby and book services, which saves them time and effort. The system makes sure that authentication is safe, data is managed well, and communication between the frontend, backend, and database parts is easy. This project effectively used full stack development ideas like API integration, database management, and user interface design. Users will find the platform more convenient, open, and easy to use. It is also scalable and can be made better in the future by adding advanced features like real-time tracking, online payments, and mobile app support. This makes it a useful and valuable solution.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12723" y="2723606"/>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503050405090304" pitchFamily="18" charset="0"/>
                <a:cs typeface="Times New Roman" panose="02020503050405090304" pitchFamily="18" charset="0"/>
              </a:rPr>
              <a:t>Thank You</a:t>
            </a:r>
            <a:endParaRPr lang="en-US" sz="5400" b="0" strike="noStrike" spc="-1" dirty="0">
              <a:solidFill>
                <a:srgbClr val="000000"/>
              </a:solidFill>
              <a:latin typeface="Times New Roman" panose="02020503050405090304" pitchFamily="18" charset="0"/>
              <a:cs typeface="Times New Roman" panose="0202050305040509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13</a:t>
            </a:fld>
            <a:endParaRPr lang="en-GB" sz="1200" b="0" strike="noStrike" spc="-1" dirty="0">
              <a:latin typeface="Times New Roman" panose="020205030504050903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ma:contentTypeScope="" ma:contentTypeName="Document" ma:versionID="47fff7f98a9c49c088ba096c14cf4458" ct:_="" ma:_="" ma:contentTypeVersion="0" ma:contentTypeDescription="Create a new document." ma:contentTypeID="0x010100096F1BF43DDE004485E7A868D137D60A">
  <xsd:schema xmlns:p="http://schemas.microsoft.com/office/2006/metadata/properties" xmlns:xsd="http://www.w3.org/2001/XMLSchema" xmlns:xs="http://www.w3.org/2001/XMLSchema" ma:fieldsID="c05e9f2c4932a6a674126b9dde7716ea" targetNamespace="http://schemas.microsoft.com/office/2006/metadata/properties" ma:root="true">
    <xsd:element name="properties">
      <xsd:complexType>
        <xsd:sequence>
          <xsd:element name="documentManagement">
            <xsd:complexType>
              <xsd:all/>
            </xsd:complexType>
          </xsd:element>
        </xsd:sequence>
      </xsd:complexType>
    </xsd:element>
  </xsd:schema>
  <xsd:schema xmlns:dcterms="http://purl.org/dc/terms/" xmlns:xsi="http://www.w3.org/2001/XMLSchema-instance" xmlns="http://schemas.openxmlformats.org/package/2006/metadata/core-properties" xmlns:odoc="http://schemas.microsoft.com/internal/obd" xmlns:dc="http://purl.org/dc/elements/1.1/" xmlns:xsd="http://www.w3.org/2001/XMLSchema" attributeFormDefault="unqualified" targetNamespace="http://schemas.openxmlformats.org/package/2006/metadata/core-properties" elementFormDefault="qualified" blockDefault="#all">
    <xsd:import namespace="http://purl.org/dc/elements/1.1/" schemaLocation="http://dublincore.org/schemas/xmls/qdc/2003/04/02/dc.xsd"/>
    <xsd:import namespace="http://purl.org/dc/terms/" schemaLocation="http://dublincore.org/schemas/xmls/qdc/2003/04/02/dcterms.xsd"/>
    <xsd:element type="CT_coreProperties" name="coreProperties"/>
    <xsd:complexType name="CT_coreProperties">
      <xsd:all>
        <xsd:element maxOccurs="1" minOccurs="0" ref="dc:creator"/>
        <xsd:element maxOccurs="1" minOccurs="0" ref="dcterms:created"/>
        <xsd:element maxOccurs="1" minOccurs="0" ref="dc:identifier"/>
        <xsd:element maxOccurs="1" minOccurs="0" type="xsd:string" ma:index="0" name="contentType" ma:displayName="Content Type"/>
        <xsd:element maxOccurs="1" minOccurs="0" ref="dc:title" ma:index="4" ma:displayName="Title"/>
        <xsd:element maxOccurs="1" minOccurs="0" ref="dc:subject"/>
        <xsd:element maxOccurs="1" minOccurs="0" ref="dc:description"/>
        <xsd:element maxOccurs="1" minOccurs="0" type="xsd:string" name="keywords"/>
        <xsd:element maxOccurs="1" minOccurs="0" ref="dc:language"/>
        <xsd:element maxOccurs="1" minOccurs="0" type="xsd:string" name="category"/>
        <xsd:element maxOccurs="1" minOccurs="0" type="xsd:string" name="version"/>
        <xsd:element maxOccurs="1" minOccurs="0" type="xsd:string" name="revision">
          <xsd:annotation>
            <xsd:documentation>
                        This value indicates the number of saves or revisions. The application is responsible for updating this value after each revision.
                    </xsd:documentation>
          </xsd:annotation>
        </xsd:element>
        <xsd:element maxOccurs="1" minOccurs="0" type="xsd:string" name="lastModifiedBy"/>
        <xsd:element maxOccurs="1" minOccurs="0" ref="dcterms:modified"/>
        <xsd:element maxOccurs="1" minOccurs="0" type="xsd:string" name="contentStatus"/>
      </xsd:all>
    </xsd:complexType>
  </xsd:schema>
  <xs:schema xmlns:pc="http://schemas.microsoft.com/office/infopath/2007/PartnerControls" xmlns:xs="http://www.w3.org/2001/XMLSchema" attributeFormDefault="unqualified" targetNamespace="http://schemas.microsoft.com/office/infopath/2007/PartnerControls" elementFormDefault="qualified">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xsi="http://www.w3.org/2001/XMLSchema-instance" xmlns:pc="http://schemas.microsoft.com/office/infopath/2007/PartnerControls" xmlns:p="http://schemas.microsoft.com/office/2006/metadata/properties">
  <documentManagement/>
</p:properties>
</file>

<file path=customXml/itemProps1.xml><?xml version="1.0" encoding="utf-8"?>
<ds:datastoreItem xmlns:ds="http://schemas.openxmlformats.org/officeDocument/2006/customXml" ds:itemID="{491DF113-39A2-46D5-BFDA-E63300A9ECAB}">
  <ds:schemaRefs/>
</ds:datastoreItem>
</file>

<file path=customXml/itemProps2.xml><?xml version="1.0" encoding="utf-8"?>
<ds:datastoreItem xmlns:ds="http://schemas.openxmlformats.org/officeDocument/2006/customXml" ds:itemID="{737ED6F0-5E4C-4CD0-9B68-9C53F925A6F7}">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37</TotalTime>
  <Words>1054</Words>
  <Application>Microsoft Office PowerPoint</Application>
  <PresentationFormat>On-screen Show (4:3)</PresentationFormat>
  <Paragraphs>64</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OBJECTIVE</vt:lpstr>
      <vt:lpstr> PROBLEM STATEMENT</vt:lpstr>
      <vt:lpstr>METHODOLOGY</vt:lpstr>
      <vt:lpstr>     FEATURES </vt:lpstr>
      <vt:lpstr>     UML DIAGRAM</vt:lpstr>
      <vt:lpstr>   CLASS DIAGRAM</vt:lpstr>
      <vt:lpstr>     Technology Stack</vt:lpstr>
      <vt:lpstr>OUTCOMES</vt:lpstr>
      <vt:lpstr>          FUTURE SCOPE</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NAIMISH SHARMA</cp:lastModifiedBy>
  <cp:revision>2316</cp:revision>
  <dcterms:created xsi:type="dcterms:W3CDTF">2026-04-29T12:30:28Z</dcterms:created>
  <dcterms:modified xsi:type="dcterms:W3CDTF">2026-05-15T10:17:38Z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A68ABB9427040A6FE4F9F169A6BC800E_43</vt:lpwstr>
  </property>
  <property fmtid="{D5CDD505-2E9C-101B-9397-08002B2CF9AE}" pid="15" name="KSOProductBuildVer">
    <vt:lpwstr>1033-12.1.23155.23155</vt:lpwstr>
  </property>
</Properties>
</file>